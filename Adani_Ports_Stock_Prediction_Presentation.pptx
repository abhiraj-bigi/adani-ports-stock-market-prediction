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📈 Machine Learning Portfolio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Adani Ports Stock Market Prediction</a:t>
            </a:r>
          </a:p>
          <a:p>
            <a:pPr>
              <a:spcAft>
                <a:spcPts val="3200"/>
              </a:spcAft>
              <a:defRPr sz="1800">
                <a:solidFill>
                  <a:srgbClr val="38BDF8"/>
                </a:solidFill>
              </a:defRPr>
            </a:pPr>
            <a:r>
              <a:t>End-to-End Predictive Modeling using XGBoost Regressor &amp; Interactive Streamlit Web App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Developer: Abhiraj Kumar  |  B.Tech Computer Science Engineering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Dataset: ADANIPORTS.csv (2007 - 2021)  •  Accuracy: 98.97% R²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Overview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📌 Project Motivation &amp; Domain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Financial market forecasting is a critical time-series challenge in data science.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Focuses on historical daily stock market data of Adani Ports (ADANIPORTS.csv) from 2007 to 2021.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Demonstrates complete ML lifecycle: loading, cleaning, feature engineering, split, scaling, training, evaluation, and deployment.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Designed to serve as an industry-standard portfolio project and academic B.Tech CSE 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🎯 Primary Project Objectives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Data Leakage Prevention: Eliminate same-day target leakage by strictly using t-1 historical lag features.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Algorithmic Modeling: Benchmark XGBoost Regressor against Linear Regression, Random Forest, and Gradient Boosting.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High Predictive Accuracy: Achieve sub-10% RMSE error margin on out-of-sample chronological test set.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Production Deployment: Build and deploy an interactive multi-page Streamlit web app for real-time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Formulation &amp; Data Leakage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⚠️ The Problem Statement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Stock prices exhibit non-linear volatility, regime shifts, and complex temporal dependencies.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Flawed ML systems accidentally use same-day Open, High, Low, or Volume to predict same-day Close price.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Same-day intraday metrics are NOT available prior to market close in real trading scenarios.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Such naive setups create artificial ~99.9% accuracy during training but fail completely in real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🛡️ Our Architectural Solution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Temporal Shift Strategy: Predict today's Closing Price (Close_t) strictly using historical t-1 information.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Lagged Feature Pipeline: Inputs consist exclusively of Prev_Close, Prev_Open, Prev_High, Prev_Low, and Prev_Volume.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Historical Rolling Statistics: Computes 7-Day &amp; 30-Day Moving Averages and 7-Day Rolling Volatility strictly from shifted history.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Chronological Validation: Evaluated on test set without shuffling time-series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Dataset Profile &amp;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TOTAL RECORDS</a:t>
            </a:r>
          </a:p>
          <a:p>
            <a:pPr>
              <a:defRPr sz="2800" b="1">
                <a:solidFill>
                  <a:srgbClr val="38BDF8"/>
                </a:solidFill>
              </a:defRPr>
            </a:pPr>
            <a:r>
              <a:t>3,322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TEMPORAL RANGE</a:t>
            </a:r>
          </a:p>
          <a:p>
            <a:pPr>
              <a:defRPr sz="2800" b="1">
                <a:solidFill>
                  <a:srgbClr val="F59E0B"/>
                </a:solidFill>
              </a:defRPr>
            </a:pPr>
            <a:r>
              <a:t>2007 - 2021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RAW COLUMNS</a:t>
            </a:r>
          </a:p>
          <a:p>
            <a:pPr>
              <a:defRPr sz="2800" b="1">
                <a:solidFill>
                  <a:srgbClr val="22C55E"/>
                </a:solidFill>
              </a:defRPr>
            </a:pPr>
            <a:r>
              <a:t>15 Attributes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📊 Key Dataset Attributes &amp; Cleaning Findings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Core Attributes: Date, Prev Close, Open, High, Low, Last, Close (Target), VWAP, Volume, Turnover, Trades.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Data Hygiene: 0 duplicate rows detected across 14 years of trading history.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Missing Value Handling: 'Trades' column contained 866 missing values (handled cleanly by dropping unneeded non-stationary columns without discarding trading rows).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Chronological Sorting: Converted Date column to datetime64 and strictly sorted dataset chronologically prior to feature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Data-Leakage-Free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8BDF8"/>
                </a:solidFill>
              </a:defRPr>
            </a:pPr>
            <a:r>
              <a:t>Lag Features (t-1):  </a:t>
            </a:r>
            <a:r>
              <a:rPr b="1" sz="1400">
                <a:solidFill>
                  <a:srgbClr val="F59E0B"/>
                </a:solidFill>
              </a:rPr>
              <a:t>[Prev_Close, Prev_Open, Prev_High, Prev_Low, Prev_Volume]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Captures previous trading session's price levels and market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8BDF8"/>
                </a:solidFill>
              </a:defRPr>
            </a:pPr>
            <a:r>
              <a:t>Price Differencing:  </a:t>
            </a:r>
            <a:r>
              <a:rPr b="1" sz="1400">
                <a:solidFill>
                  <a:srgbClr val="F59E0B"/>
                </a:solidFill>
              </a:rPr>
              <a:t>[Daily_Price_Change &amp; Daily_Pct_Change]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Quantifies daily price momentum and percentage return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8BDF8"/>
                </a:solidFill>
              </a:defRPr>
            </a:pPr>
            <a:r>
              <a:t>Moving Averages:  </a:t>
            </a:r>
            <a:r>
              <a:rPr b="1" sz="1400">
                <a:solidFill>
                  <a:srgbClr val="F59E0B"/>
                </a:solidFill>
              </a:rPr>
              <a:t>[MA_7 (7-Day) &amp; MA_30 (30-Day)]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Smooths out short-term noise to identify underlying trend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8BDF8"/>
                </a:solidFill>
              </a:defRPr>
            </a:pPr>
            <a:r>
              <a:t>Volatility Indicator:  </a:t>
            </a:r>
            <a:r>
              <a:rPr b="1" sz="1400">
                <a:solidFill>
                  <a:srgbClr val="F59E0B"/>
                </a:solidFill>
              </a:rPr>
              <a:t>[Rolling_Std_7 (7-Day Rolling Standard Deviation)]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Measures market volatility and risk levels over recent trading sessions.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8BDF8"/>
                </a:solidFill>
              </a:defRPr>
            </a:pPr>
            <a:r>
              <a:t>Calendar Signals:  </a:t>
            </a:r>
            <a:r>
              <a:rPr b="1" sz="1400">
                <a:solidFill>
                  <a:srgbClr val="F59E0B"/>
                </a:solidFill>
              </a:rPr>
              <a:t>[Year, Month, Day, Day_of_Week]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Encodes seasonal market patterns, end-of-month, and weekly cyclicality.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Train-Test Split &amp; MinMaxScaler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📅 Chronological Train-Test Split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Time-Series Constraint: Random shuffling (shuffle=True) breaks temporal order and causes future leakage.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Chronological Split: Data is partitioned strictly by time sequence.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Training Set (80%): 2,633 records spanning Jan 2008 to Aug 2018.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Testing Set (20%): 659 out-of-sample records spanning Aug 2018 to Apr 2021.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⚖️ MinMaxScaler Feature Normalization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Feature Range: Scales all input numerical attributes to [0, 1].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Strict Fit Scope: Scaler is fitted EXCLUSIVELY on X_train to prevent data leakage.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X_test Transformation: X_test is transformed using the pre-fitted X_train scaling parameters.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Persistence: Saved as scaler.pkl using Joblib for exact real-time inference during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Architecture: XGBoost Regressor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BDF8"/>
                </a:solidFill>
              </a:defRPr>
            </a:pPr>
            <a:r>
              <a:t>⚡ Why XGBoost for Stock Price Forecasting?</a:t>
            </a:r>
          </a:p>
          <a:p>
            <a:pPr>
              <a:spcAft>
                <a:spcPts val="1200"/>
              </a:spcAft>
              <a:defRPr b="1" sz="1500">
                <a:solidFill>
                  <a:srgbClr val="F8FAFC"/>
                </a:solidFill>
              </a:defRPr>
            </a:pPr>
            <a:r>
              <a:t>• Gradient Boosted Decision Trees: </a:t>
            </a:r>
            <a:r>
              <a:rPr b="0">
                <a:solidFill>
                  <a:srgbClr val="94A3B8"/>
                </a:solidFill>
              </a:rPr>
              <a:t>Combines predictions of weak base learners sequentially to minimize loss function.</a:t>
            </a:r>
          </a:p>
          <a:p>
            <a:pPr>
              <a:spcAft>
                <a:spcPts val="1200"/>
              </a:spcAft>
              <a:defRPr b="1" sz="1500">
                <a:solidFill>
                  <a:srgbClr val="F8FAFC"/>
                </a:solidFill>
              </a:defRPr>
            </a:pPr>
            <a:r>
              <a:t>• Built-in Regularization: </a:t>
            </a:r>
            <a:r>
              <a:rPr b="0">
                <a:solidFill>
                  <a:srgbClr val="94A3B8"/>
                </a:solidFill>
              </a:rPr>
              <a:t>L1 (Lasso) &amp; L2 (Ridge) penalty terms prevent overfitting on noisy financial data.</a:t>
            </a:r>
          </a:p>
          <a:p>
            <a:pPr>
              <a:spcAft>
                <a:spcPts val="1200"/>
              </a:spcAft>
              <a:defRPr b="1" sz="1500">
                <a:solidFill>
                  <a:srgbClr val="F8FAFC"/>
                </a:solidFill>
              </a:defRPr>
            </a:pPr>
            <a:r>
              <a:t>• Non-Linear Mapping: </a:t>
            </a:r>
            <a:r>
              <a:rPr b="0">
                <a:solidFill>
                  <a:srgbClr val="94A3B8"/>
                </a:solidFill>
              </a:rPr>
              <a:t>Effectively captures non-linear relationships without requiring complex feature transformations.</a:t>
            </a:r>
          </a:p>
          <a:p>
            <a:pPr>
              <a:spcAft>
                <a:spcPts val="1200"/>
              </a:spcAft>
              <a:defRPr b="1" sz="1500">
                <a:solidFill>
                  <a:srgbClr val="F8FAFC"/>
                </a:solidFill>
              </a:defRPr>
            </a:pPr>
            <a:r>
              <a:t>• Optimized Hyperparameters: </a:t>
            </a:r>
            <a:r>
              <a:rPr b="0">
                <a:solidFill>
                  <a:srgbClr val="94A3B8"/>
                </a:solidFill>
              </a:rPr>
              <a:t>n_estimators=300, learning_rate=0.03, max_depth=5, subsample=0.8, colsample_bytree=0.8.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Performance Benchmark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 Algorithm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 (₹)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RMSE (₹)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XGBoost Regressor (Primary)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₹7.3158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120.4059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₹10.9730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0.9897 (98.97%)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₹6.8275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116.1628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₹10.7779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0.9901 (99.01%)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Gradient Boosting Regressor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₹7.7917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137.2456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₹11.7152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0.9883 (98.83%)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₹8.0688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150.0817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₹12.2508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0.9872 (98.72%)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Interactive Streamlit Web Dashboard (app.py)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</a:defRPr>
            </a:pPr>
            <a:r>
              <a:t>📱 6 Multi-Page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🏠 Home: Project overview, workflow diagram, tech specs.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📊 Dataset Analysis: Table preview, dtypes, missing values, summary stats.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📈 Stock Visualization: Plotly charts (Close trend, Moving Averages 7/30, Volume, Correlation).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⚡ Model Performance: Metric cards, model comparison table, Actual vs Predicted graph.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🔮 Predict Stock Price: Interactive form with pre-fill option &amp; instant inference.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ℹ️ About Project: Student bio (Abhiraj Kumar, B.Tech CSE) &amp; viva Q&amp;A.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</a:defRPr>
            </a:pPr>
            <a:r>
              <a:t>🔮 Real-Time Stock Prediction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Pre-fill Functionality: 1-click option to populate form with latest dataset row.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Exact Feature Alignment: Preserves feature names &amp; order matching feature_columns.pkl.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Automated Scaling: Transforms user inputs using pre-fitted scaler.pkl.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Prediction Display: Styled metric card showing predicted price, percentage delta, bullish/bearish indicator, and financial advice disclaimer.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Version Control &amp; Cloud 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🐙 GitHub Repository Setup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Repository URL: github.com/Abhiraj-bigi/Adani-Ports-Stock-Market-Prediction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Clean Structure: train_model.py, app.py, README.md, requirements.txt, .gitignore.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Artifact Serialization: Models, scalers, and feature lists tracked cleanly.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Documentation: Recruiter-ready README with architecture &amp; quickstart guides.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☁️ Streamlit Community Cloud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Automated Build: Streamlit Cloud installs dependencies automatically from requirements.txt.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Linux Server Compatibility: Utilizes relative pathlib.Path structures for cross-platform portability.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Resource Caching: Uses @st.cache_data and @st.cache_resource for instant load times.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Public Access: Live public URL accessible across desktop and mobile devices.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ADANI PORTS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College Viva &amp; Technical Interview Q&amp;A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BDF8"/>
                </a:solidFill>
              </a:defRPr>
            </a:pPr>
            <a:r>
              <a:t>🎓 Key Viva Questions &amp; Explanations</a:t>
            </a:r>
          </a:p>
          <a:p>
            <a:pPr>
              <a:spcAft>
                <a:spcPts val="1000"/>
              </a:spcAft>
              <a:defRPr b="1" sz="1400">
                <a:solidFill>
                  <a:srgbClr val="F59E0B"/>
                </a:solidFill>
              </a:defRPr>
            </a:pPr>
            <a:r>
              <a:t>Q1: How did you prevent Data Leakage in your stock prediction model?</a:t>
            </a:r>
            <a:br/>
            <a:r>
              <a:rPr b="0">
                <a:solidFill>
                  <a:srgbClr val="F8FAFC"/>
                </a:solidFill>
              </a:rPr>
              <a:t>A: We used t-1 lagged features and historical rolling windows. Inputs to predict Close_t use only information available before market close.</a:t>
            </a:r>
          </a:p>
          <a:p>
            <a:pPr>
              <a:spcAft>
                <a:spcPts val="1000"/>
              </a:spcAft>
              <a:defRPr b="1" sz="1400">
                <a:solidFill>
                  <a:srgbClr val="F59E0B"/>
                </a:solidFill>
              </a:defRPr>
            </a:pPr>
            <a:r>
              <a:t>Q2: Why use MinMaxScaler instead of StandardScaler?</a:t>
            </a:r>
            <a:br/>
            <a:r>
              <a:rPr b="0">
                <a:solidFill>
                  <a:srgbClr val="F8FAFC"/>
                </a:solidFill>
              </a:rPr>
              <a:t>A: MinMaxScaler bounds input features strictly to [0, 1], normalizing price and volume scales without altering the shape of skewed volume data.</a:t>
            </a:r>
          </a:p>
          <a:p>
            <a:pPr>
              <a:spcAft>
                <a:spcPts val="1000"/>
              </a:spcAft>
              <a:defRPr b="1" sz="1400">
                <a:solidFill>
                  <a:srgbClr val="F59E0B"/>
                </a:solidFill>
              </a:defRPr>
            </a:pPr>
            <a:r>
              <a:t>Q3: Why is random split (shuffle=True) inappropriate for stock data?</a:t>
            </a:r>
            <a:br/>
            <a:r>
              <a:rPr b="0">
                <a:solidFill>
                  <a:srgbClr val="F8FAFC"/>
                </a:solidFill>
              </a:rPr>
              <a:t>A: Stock prices are time-dependent. Shuffling leaks future price patterns into past training rows. Chronological split preserves temporal validity.</a:t>
            </a:r>
          </a:p>
          <a:p>
            <a:pPr>
              <a:spcAft>
                <a:spcPts val="1000"/>
              </a:spcAft>
              <a:defRPr b="1" sz="1400">
                <a:solidFill>
                  <a:srgbClr val="F59E0B"/>
                </a:solidFill>
              </a:defRPr>
            </a:pPr>
            <a:r>
              <a:t>Q4: What evaluation metrics did you use and why?</a:t>
            </a:r>
            <a:br/>
            <a:r>
              <a:rPr b="0">
                <a:solidFill>
                  <a:srgbClr val="F8FAFC"/>
                </a:solidFill>
              </a:rPr>
              <a:t>A: MAE (₹7.31) measures average price error in INR, RMSE (₹10.97) penalizes large outliers, and R² (0.9897) proves high variance explanation.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59E0B"/>
                </a:solidFill>
              </a:defRPr>
            </a:pPr>
            <a:r>
              <a:t>Adani Ports Stock Market Prediction System</a:t>
            </a:r>
          </a:p>
          <a:p>
            <a:pPr algn="ctr">
              <a:spcAft>
                <a:spcPts val="1400"/>
              </a:spcAft>
              <a:defRPr sz="2400" b="1">
                <a:solidFill>
                  <a:srgbClr val="38BDF8"/>
                </a:solidFill>
              </a:defRPr>
            </a:pPr>
            <a:r>
              <a:t>Questions &amp; Answers (Q&amp;A)</a:t>
            </a:r>
          </a:p>
          <a:p>
            <a:pPr algn="ctr">
              <a:defRPr sz="1500">
                <a:solidFill>
                  <a:srgbClr val="F8FAFC"/>
                </a:solidFill>
              </a:defRPr>
            </a:pPr>
            <a:r>
              <a:t>Developer: Abhiraj Kumar  |  B.Tech Computer Science Engineering</a:t>
            </a:r>
            <a:br/>
            <a:r>
              <a:t>GitHub: github.com/Abhiraj-bigi/Adani-Ports-Stock-Market-Prediction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